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4" y="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424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MOBILE PHONE PRICE</a:t>
            </a:r>
          </a:p>
          <a:p>
            <a:pPr algn="l">
              <a:spcAft>
                <a:spcPts val="6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880360"/>
            <a:ext cx="9875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900" b="0">
                <a:solidFill>
                  <a:srgbClr val="B8DEE4"/>
                </a:solidFill>
                <a:latin typeface="Aptos"/>
              </a:defRPr>
            </a:pPr>
            <a:r>
              <a:t>Exploratory Data Analysis • Feature Engineering • Feature Selection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977639"/>
            <a:ext cx="8961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A Python-based data science project using a mobile phone specifications dataset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162B4D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0789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647382"/>
                </a:solidFill>
                <a:latin typeface="Aptos"/>
              </a:defRPr>
            </a:pPr>
            <a:r>
              <a:t>MOBILE PHONE PRICE PREDICTION | PYTHON +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4738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6492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3340"/>
                </a:solidFill>
                <a:latin typeface="Aptos"/>
              </a:defRPr>
            </a:pPr>
            <a:r>
              <a:t>• Load and inspect the mobile phone dataset with pandas.</a:t>
            </a:r>
          </a:p>
          <a:p>
            <a:pPr>
              <a:spcAft>
                <a:spcPts val="1200"/>
              </a:spcAft>
              <a:defRPr sz="1700">
                <a:solidFill>
                  <a:srgbClr val="283340"/>
                </a:solidFill>
                <a:latin typeface="Aptos"/>
              </a:defRPr>
            </a:pPr>
            <a:r>
              <a:t>• Check structure, data types, descriptive statistics, missing values and duplicate records.</a:t>
            </a:r>
          </a:p>
          <a:p>
            <a:pPr>
              <a:spcAft>
                <a:spcPts val="1200"/>
              </a:spcAft>
              <a:defRPr sz="1700">
                <a:solidFill>
                  <a:srgbClr val="283340"/>
                </a:solidFill>
                <a:latin typeface="Aptos"/>
              </a:defRPr>
            </a:pPr>
            <a:r>
              <a:t>• Clean inconsistent formats, especially comma-separated prices and camera megapixel strings.</a:t>
            </a:r>
          </a:p>
          <a:p>
            <a:pPr>
              <a:spcAft>
                <a:spcPts val="1200"/>
              </a:spcAft>
              <a:defRPr sz="1700">
                <a:solidFill>
                  <a:srgbClr val="283340"/>
                </a:solidFill>
                <a:latin typeface="Aptos"/>
              </a:defRPr>
            </a:pPr>
            <a:r>
              <a:t>• Perform univariate and multivariate EDA to explore distributions and relationships.</a:t>
            </a:r>
          </a:p>
          <a:p>
            <a:pPr>
              <a:spcAft>
                <a:spcPts val="1200"/>
              </a:spcAft>
              <a:defRPr sz="1700">
                <a:solidFill>
                  <a:srgbClr val="283340"/>
                </a:solidFill>
                <a:latin typeface="Aptos"/>
              </a:defRPr>
            </a:pPr>
            <a:r>
              <a:t>• Create useful derived features and encode categorical variables.</a:t>
            </a:r>
          </a:p>
          <a:p>
            <a:pPr>
              <a:spcAft>
                <a:spcPts val="1200"/>
              </a:spcAft>
              <a:defRPr sz="1700">
                <a:solidFill>
                  <a:srgbClr val="283340"/>
                </a:solidFill>
                <a:latin typeface="Aptos"/>
              </a:defRPr>
            </a:pPr>
            <a:r>
              <a:t>• Use a Random Forest regressor to rank features and select a reduced feature set.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645920"/>
            <a:ext cx="1645920" cy="960120"/>
          </a:xfrm>
          <a:prstGeom prst="roundRect">
            <a:avLst/>
          </a:prstGeom>
          <a:solidFill>
            <a:srgbClr val="F2F7FA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90688" y="173736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009196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0688" y="2057400"/>
            <a:ext cx="1417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62B4D"/>
                </a:solidFill>
                <a:latin typeface="Aptos"/>
              </a:defRPr>
            </a:pPr>
            <a:r>
              <a:t>Load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0" y="1645920"/>
            <a:ext cx="1645920" cy="960120"/>
          </a:xfrm>
          <a:prstGeom prst="roundRect">
            <a:avLst/>
          </a:prstGeom>
          <a:solidFill>
            <a:srgbClr val="F2F7FA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710928" y="173736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00919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10928" y="2057400"/>
            <a:ext cx="1417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62B4D"/>
                </a:solidFill>
                <a:latin typeface="Aptos"/>
              </a:defRPr>
            </a:pPr>
            <a:r>
              <a:t>Inspect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2971800"/>
            <a:ext cx="1645920" cy="960120"/>
          </a:xfrm>
          <a:prstGeom prst="roundRect">
            <a:avLst/>
          </a:prstGeom>
          <a:solidFill>
            <a:srgbClr val="F2F7FA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90688" y="30632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00919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0688" y="3383280"/>
            <a:ext cx="1417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62B4D"/>
                </a:solidFill>
                <a:latin typeface="Aptos"/>
              </a:defRPr>
            </a:pPr>
            <a:r>
              <a:t>Clean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2971800"/>
            <a:ext cx="1645920" cy="960120"/>
          </a:xfrm>
          <a:prstGeom prst="roundRect">
            <a:avLst/>
          </a:prstGeom>
          <a:solidFill>
            <a:srgbClr val="F2F7FA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10928" y="30632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00919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10928" y="3383280"/>
            <a:ext cx="1417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62B4D"/>
                </a:solidFill>
                <a:latin typeface="Aptos"/>
              </a:defRPr>
            </a:pPr>
            <a:r>
              <a:t>EDA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80960" y="4297680"/>
            <a:ext cx="1645920" cy="960120"/>
          </a:xfrm>
          <a:prstGeom prst="roundRect">
            <a:avLst/>
          </a:prstGeom>
          <a:solidFill>
            <a:srgbClr val="F2F7FA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90688" y="438912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009196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0688" y="4709160"/>
            <a:ext cx="1417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62B4D"/>
                </a:solidFill>
                <a:latin typeface="Aptos"/>
              </a:defRPr>
            </a:pPr>
            <a:r>
              <a:t>Engineer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0" y="4297680"/>
            <a:ext cx="1645920" cy="960120"/>
          </a:xfrm>
          <a:prstGeom prst="roundRect">
            <a:avLst/>
          </a:prstGeom>
          <a:solidFill>
            <a:srgbClr val="F2F7FA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710928" y="438912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009196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10928" y="4709160"/>
            <a:ext cx="1417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62B4D"/>
                </a:solidFill>
                <a:latin typeface="Aptos"/>
              </a:defRPr>
            </a:pPr>
            <a:r>
              <a:t>Select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162B4D"/>
                </a:solidFill>
                <a:latin typeface="Aptos"/>
              </a:defRPr>
            </a:pPr>
            <a:r>
              <a:t>Dataset Description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0789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647382"/>
                </a:solidFill>
                <a:latin typeface="Aptos"/>
              </a:defRPr>
            </a:pPr>
            <a:r>
              <a:t>MOBILE PHONE PRICE PREDICTION | PYTHON +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4738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200" b="1">
                <a:solidFill>
                  <a:srgbClr val="162B4D"/>
                </a:solidFill>
                <a:latin typeface="Aptos"/>
              </a:defRPr>
            </a:pPr>
            <a:r>
              <a:t>541 rows × 12 columns in the original 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83340"/>
                </a:solidFill>
                <a:latin typeface="Aptos"/>
              </a:defRPr>
            </a:pPr>
            <a:r>
              <a:t>• 541 mobile phone records and 12 columns, including an index column.</a:t>
            </a:r>
          </a:p>
          <a:p>
            <a:pPr>
              <a:spcAft>
                <a:spcPts val="1200"/>
              </a:spcAft>
              <a:defRPr sz="1600">
                <a:solidFill>
                  <a:srgbClr val="283340"/>
                </a:solidFill>
                <a:latin typeface="Aptos"/>
              </a:defRPr>
            </a:pPr>
            <a:r>
              <a:t>• Features include model, colour, memory, RAM, battery, cameras, AI Lens, height and processor.</a:t>
            </a:r>
          </a:p>
          <a:p>
            <a:pPr>
              <a:spcAft>
                <a:spcPts val="1200"/>
              </a:spcAft>
              <a:defRPr sz="1600">
                <a:solidFill>
                  <a:srgbClr val="283340"/>
                </a:solidFill>
                <a:latin typeface="Aptos"/>
              </a:defRPr>
            </a:pPr>
            <a:r>
              <a:t>• Target variable: Prize (mobile phone price).</a:t>
            </a:r>
          </a:p>
          <a:p>
            <a:pPr>
              <a:spcAft>
                <a:spcPts val="1200"/>
              </a:spcAft>
              <a:defRPr sz="1600">
                <a:solidFill>
                  <a:srgbClr val="283340"/>
                </a:solidFill>
                <a:latin typeface="Aptos"/>
              </a:defRPr>
            </a:pPr>
            <a:r>
              <a:t>• After dropping the non-informative index column, 11 meaningful columns remain.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2331720" cy="1097280"/>
          </a:xfrm>
          <a:prstGeom prst="roundRect">
            <a:avLst/>
          </a:prstGeom>
          <a:solidFill>
            <a:srgbClr val="F2F7FA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178308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009196"/>
                </a:solidFill>
                <a:latin typeface="Aptos"/>
              </a:defRPr>
            </a:pPr>
            <a:r>
              <a:t>Categorical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121408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83340"/>
                </a:solidFill>
                <a:latin typeface="Aptos"/>
              </a:defRPr>
            </a:pPr>
            <a:r>
              <a:t>Model, Colour, Processor_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645920"/>
            <a:ext cx="2331720" cy="1097280"/>
          </a:xfrm>
          <a:prstGeom prst="roundRect">
            <a:avLst/>
          </a:prstGeom>
          <a:solidFill>
            <a:srgbClr val="F2F7FA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0" y="178308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009196"/>
                </a:solidFill>
                <a:latin typeface="Aptos"/>
              </a:defRPr>
            </a:pPr>
            <a:r>
              <a:t>Numeric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121408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83340"/>
                </a:solidFill>
                <a:latin typeface="Aptos"/>
              </a:defRPr>
            </a:pPr>
            <a:r>
              <a:t>Memory, RAM, Battery_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154680"/>
            <a:ext cx="2331720" cy="1097280"/>
          </a:xfrm>
          <a:prstGeom prst="roundRect">
            <a:avLst/>
          </a:prstGeom>
          <a:solidFill>
            <a:srgbClr val="F2F7FA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5080" y="329184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009196"/>
                </a:solidFill>
                <a:latin typeface="Aptos"/>
              </a:defRPr>
            </a:pPr>
            <a:r>
              <a:t>Camera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630168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83340"/>
                </a:solidFill>
                <a:latin typeface="Aptos"/>
              </a:defRPr>
            </a:pPr>
            <a:r>
              <a:t>Rear Camera, Front Camera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23960" y="3154680"/>
            <a:ext cx="2331720" cy="1097280"/>
          </a:xfrm>
          <a:prstGeom prst="roundRect">
            <a:avLst/>
          </a:prstGeom>
          <a:solidFill>
            <a:srgbClr val="F2F7FA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20" y="329184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009196"/>
                </a:solidFill>
                <a:latin typeface="Aptos"/>
              </a:defRPr>
            </a:pPr>
            <a:r>
              <a:t>Target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630168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83340"/>
                </a:solidFill>
                <a:latin typeface="Aptos"/>
              </a:defRPr>
            </a:pPr>
            <a:r>
              <a:t>Prize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162B4D"/>
                </a:solidFill>
                <a:latin typeface="Aptos"/>
              </a:defRPr>
            </a:pPr>
            <a:r>
              <a:t>Loading &amp; Exploring the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0789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647382"/>
                </a:solidFill>
                <a:latin typeface="Aptos"/>
              </a:defRPr>
            </a:pPr>
            <a:r>
              <a:t>MOBILE PHONE PRICE PREDICTION | PYTHON +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47382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58521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283340"/>
                </a:solidFill>
                <a:latin typeface="Aptos"/>
              </a:defRPr>
            </a:pPr>
            <a:r>
              <a:rPr dirty="0"/>
              <a:t>import pandas as pd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283340"/>
                </a:solidFill>
                <a:latin typeface="Aptos"/>
              </a:defRPr>
            </a:pPr>
            <a:endParaRPr dirty="0"/>
          </a:p>
          <a:p>
            <a:pPr algn="l">
              <a:spcAft>
                <a:spcPts val="600"/>
              </a:spcAft>
              <a:defRPr sz="1500" b="0">
                <a:solidFill>
                  <a:srgbClr val="283340"/>
                </a:solidFill>
                <a:latin typeface="Aptos"/>
              </a:defRPr>
            </a:pPr>
            <a:r>
              <a:rPr dirty="0" err="1"/>
              <a:t>df</a:t>
            </a:r>
            <a:r>
              <a:rPr dirty="0"/>
              <a:t> = </a:t>
            </a:r>
            <a:r>
              <a:rPr dirty="0" err="1"/>
              <a:t>pd.read_csv</a:t>
            </a:r>
            <a:r>
              <a:rPr dirty="0"/>
              <a:t>("</a:t>
            </a:r>
            <a:r>
              <a:rPr dirty="0" err="1"/>
              <a:t>Processed_Flipdata</a:t>
            </a:r>
            <a:r>
              <a:rPr dirty="0"/>
              <a:t> - Processed_Flipdata.csv")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283340"/>
                </a:solidFill>
                <a:latin typeface="Aptos"/>
              </a:defRPr>
            </a:pPr>
            <a:r>
              <a:rPr dirty="0"/>
              <a:t>print(</a:t>
            </a:r>
            <a:r>
              <a:rPr dirty="0" err="1"/>
              <a:t>df.head</a:t>
            </a:r>
            <a:r>
              <a:rPr dirty="0"/>
              <a:t>())       # first 5 rows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283340"/>
                </a:solidFill>
                <a:latin typeface="Aptos"/>
              </a:defRPr>
            </a:pPr>
            <a:r>
              <a:rPr dirty="0"/>
              <a:t>print(</a:t>
            </a:r>
            <a:r>
              <a:rPr dirty="0" err="1"/>
              <a:t>df.shape</a:t>
            </a:r>
            <a:r>
              <a:rPr dirty="0"/>
              <a:t>)        # rows and columns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283340"/>
                </a:solidFill>
                <a:latin typeface="Aptos"/>
              </a:defRPr>
            </a:pPr>
            <a:r>
              <a:rPr dirty="0"/>
              <a:t>print(df.info())       # data types and non-null counts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283340"/>
                </a:solidFill>
                <a:latin typeface="Aptos"/>
              </a:defRPr>
            </a:pPr>
            <a:r>
              <a:rPr dirty="0"/>
              <a:t>print(</a:t>
            </a:r>
            <a:r>
              <a:rPr dirty="0" err="1"/>
              <a:t>df.describe</a:t>
            </a:r>
            <a:r>
              <a:rPr dirty="0"/>
              <a:t>())   # numeric descriptive statistics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283340"/>
                </a:solidFill>
                <a:latin typeface="Aptos"/>
              </a:defRPr>
            </a:pPr>
            <a:r>
              <a:rPr dirty="0"/>
              <a:t>print(</a:t>
            </a:r>
            <a:r>
              <a:rPr dirty="0" err="1"/>
              <a:t>df.isnull</a:t>
            </a:r>
            <a:r>
              <a:rPr dirty="0"/>
              <a:t>().sum())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283340"/>
                </a:solidFill>
                <a:latin typeface="Aptos"/>
              </a:defRPr>
            </a:pPr>
            <a:r>
              <a:rPr dirty="0"/>
              <a:t>print(</a:t>
            </a:r>
            <a:r>
              <a:rPr dirty="0" err="1"/>
              <a:t>df.duplicated</a:t>
            </a:r>
            <a:r>
              <a:rPr dirty="0"/>
              <a:t>().sum())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600200"/>
            <a:ext cx="4480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83340"/>
                </a:solidFill>
                <a:latin typeface="Aptos"/>
              </a:defRPr>
            </a:pPr>
            <a:r>
              <a:t>• head() previews the first records.</a:t>
            </a:r>
          </a:p>
          <a:p>
            <a:pPr>
              <a:spcAft>
                <a:spcPts val="1200"/>
              </a:spcAft>
              <a:defRPr sz="1500">
                <a:solidFill>
                  <a:srgbClr val="283340"/>
                </a:solidFill>
                <a:latin typeface="Aptos"/>
              </a:defRPr>
            </a:pPr>
            <a:r>
              <a:t>• shape confirms dataset dimensions.</a:t>
            </a:r>
          </a:p>
          <a:p>
            <a:pPr>
              <a:spcAft>
                <a:spcPts val="1200"/>
              </a:spcAft>
              <a:defRPr sz="1500">
                <a:solidFill>
                  <a:srgbClr val="283340"/>
                </a:solidFill>
                <a:latin typeface="Aptos"/>
              </a:defRPr>
            </a:pPr>
            <a:r>
              <a:t>• info() reveals object columns that may need conversion.</a:t>
            </a:r>
          </a:p>
          <a:p>
            <a:pPr>
              <a:spcAft>
                <a:spcPts val="1200"/>
              </a:spcAft>
              <a:defRPr sz="1500">
                <a:solidFill>
                  <a:srgbClr val="283340"/>
                </a:solidFill>
                <a:latin typeface="Aptos"/>
              </a:defRPr>
            </a:pPr>
            <a:r>
              <a:t>• describe() summarizes count, mean, standard deviation and quartiles.</a:t>
            </a:r>
          </a:p>
          <a:p>
            <a:pPr>
              <a:spcAft>
                <a:spcPts val="1200"/>
              </a:spcAft>
              <a:defRPr sz="1500">
                <a:solidFill>
                  <a:srgbClr val="283340"/>
                </a:solidFill>
                <a:latin typeface="Aptos"/>
              </a:defRPr>
            </a:pPr>
            <a:r>
              <a:t>• isnull() and duplicated() check data quality.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162B4D"/>
                </a:solidFill>
                <a:latin typeface="Aptos"/>
              </a:defRPr>
            </a:pPr>
            <a:r>
              <a:t>Preprocessing &amp; Inconsistency Checks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0789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647382"/>
                </a:solidFill>
                <a:latin typeface="Aptos"/>
              </a:defRPr>
            </a:pPr>
            <a:r>
              <a:t>MOBILE PHONE PRICE PREDICTION | PYTHON +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47382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577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83340"/>
                </a:solidFill>
                <a:latin typeface="Aptos"/>
              </a:defRPr>
            </a:pPr>
            <a:r>
              <a:t>• Original file: 541 rows and 12 columns.</a:t>
            </a:r>
          </a:p>
          <a:p>
            <a:pPr>
              <a:spcAft>
                <a:spcPts val="1200"/>
              </a:spcAft>
              <a:defRPr sz="1600">
                <a:solidFill>
                  <a:srgbClr val="283340"/>
                </a:solidFill>
                <a:latin typeface="Aptos"/>
              </a:defRPr>
            </a:pPr>
            <a:r>
              <a:t>• Missing values detected in raw file: 0.</a:t>
            </a:r>
          </a:p>
          <a:p>
            <a:pPr>
              <a:spcAft>
                <a:spcPts val="1200"/>
              </a:spcAft>
              <a:defRPr sz="1600">
                <a:solidFill>
                  <a:srgbClr val="283340"/>
                </a:solidFill>
                <a:latin typeface="Aptos"/>
              </a:defRPr>
            </a:pPr>
            <a:r>
              <a:t>• Exact duplicate rows including index: 0.</a:t>
            </a:r>
          </a:p>
          <a:p>
            <a:pPr>
              <a:spcAft>
                <a:spcPts val="1200"/>
              </a:spcAft>
              <a:defRPr sz="1600">
                <a:solidFill>
                  <a:srgbClr val="283340"/>
                </a:solidFill>
                <a:latin typeface="Aptos"/>
              </a:defRPr>
            </a:pPr>
            <a:r>
              <a:t>• Duplicate rows after excluding the index column: 10.</a:t>
            </a:r>
          </a:p>
          <a:p>
            <a:pPr>
              <a:spcAft>
                <a:spcPts val="1200"/>
              </a:spcAft>
              <a:defRPr sz="1600">
                <a:solidFill>
                  <a:srgbClr val="283340"/>
                </a:solidFill>
                <a:latin typeface="Aptos"/>
              </a:defRPr>
            </a:pPr>
            <a:r>
              <a:t>• Prize is stored as text with comma separators (for example, 7,299).</a:t>
            </a:r>
          </a:p>
          <a:p>
            <a:pPr>
              <a:spcAft>
                <a:spcPts val="1200"/>
              </a:spcAft>
              <a:defRPr sz="1600">
                <a:solidFill>
                  <a:srgbClr val="283340"/>
                </a:solidFill>
                <a:latin typeface="Aptos"/>
              </a:defRPr>
            </a:pPr>
            <a:r>
              <a:t>• Rear Camera and Front Camera values contain text suffixes such as MP.</a:t>
            </a:r>
          </a:p>
          <a:p>
            <a:pPr>
              <a:spcAft>
                <a:spcPts val="1200"/>
              </a:spcAft>
              <a:defRPr sz="1600">
                <a:solidFill>
                  <a:srgbClr val="283340"/>
                </a:solidFill>
                <a:latin typeface="Aptos"/>
              </a:defRPr>
            </a:pPr>
            <a:r>
              <a:t>• Unnamed: 0 is an index-like column and should not be used as a predictor.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1645920"/>
            <a:ext cx="4800600" cy="4114800"/>
          </a:xfrm>
          <a:prstGeom prst="roundRect">
            <a:avLst/>
          </a:prstGeom>
          <a:solidFill>
            <a:srgbClr val="F2F7FA"/>
          </a:solidFill>
          <a:ln>
            <a:solidFill>
              <a:srgbClr val="F2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03720" y="1874519"/>
            <a:ext cx="429768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83340"/>
                </a:solidFill>
                <a:latin typeface="Aptos"/>
              </a:defRPr>
            </a:pPr>
            <a:r>
              <a:t>df = df.drop(columns=['Unnamed: 0'], errors='ignore')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283340"/>
                </a:solidFill>
                <a:latin typeface="Aptos"/>
              </a:defRPr>
            </a:pPr>
            <a:r>
              <a:t>df['Prize'] = pd.to_numeric(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283340"/>
                </a:solidFill>
                <a:latin typeface="Aptos"/>
              </a:defRPr>
            </a:pPr>
            <a:r>
              <a:t>    df['Prize'].astype(str).str.replace(',', '', regex=False),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283340"/>
                </a:solidFill>
                <a:latin typeface="Aptos"/>
              </a:defRPr>
            </a:pPr>
            <a:r>
              <a:t>    errors='coerce'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283340"/>
                </a:solidFill>
                <a:latin typeface="Aptos"/>
              </a:defRPr>
            </a:pPr>
            <a:r>
              <a:t>)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283340"/>
                </a:solidFill>
                <a:latin typeface="Aptos"/>
              </a:defRPr>
            </a:pPr>
            <a:r>
              <a:t>for col in ['Rear Camera', 'Front Camera']: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283340"/>
                </a:solidFill>
                <a:latin typeface="Aptos"/>
              </a:defRPr>
            </a:pPr>
            <a:r>
              <a:t>    df[col] = pd.to_numeric(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283340"/>
                </a:solidFill>
                <a:latin typeface="Aptos"/>
              </a:defRPr>
            </a:pPr>
            <a:r>
              <a:t>        df[col].astype(str).str.extract(r'(\d+\.?\d*)')[0],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283340"/>
                </a:solidFill>
                <a:latin typeface="Aptos"/>
              </a:defRPr>
            </a:pPr>
            <a:r>
              <a:t>        errors='coerce'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283340"/>
                </a:solidFill>
                <a:latin typeface="Aptos"/>
              </a:defRPr>
            </a:pPr>
            <a:r>
              <a:t>    )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283340"/>
                </a:solidFill>
                <a:latin typeface="Aptos"/>
              </a:defRPr>
            </a:pPr>
            <a:r>
              <a:t>df = df.drop_duplicates()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162B4D"/>
                </a:solidFill>
                <a:latin typeface="Aptos"/>
              </a:defRPr>
            </a:pPr>
            <a:r>
              <a:t>Preprocessing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0789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647382"/>
                </a:solidFill>
                <a:latin typeface="Aptos"/>
              </a:defRPr>
            </a:pPr>
            <a:r>
              <a:t>MOBILE PHONE PRICE PREDICTION | PYTHON +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47382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83340"/>
                </a:solidFill>
                <a:latin typeface="Aptos"/>
              </a:defRPr>
            </a:pPr>
            <a:r>
              <a:t>• Remove the index-like Unnamed: 0 column.</a:t>
            </a:r>
          </a:p>
          <a:p>
            <a:pPr>
              <a:spcAft>
                <a:spcPts val="1200"/>
              </a:spcAft>
              <a:defRPr sz="1600">
                <a:solidFill>
                  <a:srgbClr val="283340"/>
                </a:solidFill>
                <a:latin typeface="Aptos"/>
              </a:defRPr>
            </a:pPr>
            <a:r>
              <a:t>• Convert Prize from comma-separated text to numeric values.</a:t>
            </a:r>
          </a:p>
          <a:p>
            <a:pPr>
              <a:spcAft>
                <a:spcPts val="1200"/>
              </a:spcAft>
              <a:defRPr sz="1600">
                <a:solidFill>
                  <a:srgbClr val="283340"/>
                </a:solidFill>
                <a:latin typeface="Aptos"/>
              </a:defRPr>
            </a:pPr>
            <a:r>
              <a:t>• Extract numeric megapixel values from camera specifications.</a:t>
            </a:r>
          </a:p>
          <a:p>
            <a:pPr>
              <a:spcAft>
                <a:spcPts val="1200"/>
              </a:spcAft>
              <a:defRPr sz="1600">
                <a:solidFill>
                  <a:srgbClr val="283340"/>
                </a:solidFill>
                <a:latin typeface="Aptos"/>
              </a:defRPr>
            </a:pPr>
            <a:r>
              <a:t>• Convert RAM, Memory, Battery_, AI Lens and Mobile Height to numeric types.</a:t>
            </a:r>
          </a:p>
          <a:p>
            <a:pPr>
              <a:spcAft>
                <a:spcPts val="1200"/>
              </a:spcAft>
              <a:defRPr sz="1600">
                <a:solidFill>
                  <a:srgbClr val="283340"/>
                </a:solidFill>
                <a:latin typeface="Aptos"/>
              </a:defRPr>
            </a:pPr>
            <a:r>
              <a:t>• Remove duplicate records after reviewing whether they are genuine duplicates.</a:t>
            </a:r>
          </a:p>
          <a:p>
            <a:pPr>
              <a:spcAft>
                <a:spcPts val="1200"/>
              </a:spcAft>
              <a:defRPr sz="1600">
                <a:solidFill>
                  <a:srgbClr val="283340"/>
                </a:solidFill>
                <a:latin typeface="Aptos"/>
              </a:defRPr>
            </a:pPr>
            <a:r>
              <a:t>• Handle missing values with median imputation for numeric columns and most-frequent imputation for categorical columns.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1691640"/>
            <a:ext cx="4297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900" b="1">
                <a:solidFill>
                  <a:srgbClr val="162B4D"/>
                </a:solidFill>
                <a:latin typeface="Aptos"/>
              </a:defRPr>
            </a:pPr>
            <a:r>
              <a:t>Cleaned price summary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12280" y="2331720"/>
            <a:ext cx="4114800" cy="530352"/>
          </a:xfrm>
          <a:prstGeom prst="roundRect">
            <a:avLst/>
          </a:prstGeom>
          <a:solidFill>
            <a:srgbClr val="F2F7FA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95160" y="2432303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647382"/>
                </a:solidFill>
                <a:latin typeface="Aptos"/>
              </a:defRPr>
            </a:pPr>
            <a:r>
              <a:t>Minimum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404872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1600" b="1">
                <a:solidFill>
                  <a:srgbClr val="162B4D"/>
                </a:solidFill>
                <a:latin typeface="Aptos"/>
              </a:defRPr>
            </a:pPr>
            <a:r>
              <a:t>₹920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3044952"/>
            <a:ext cx="4114800" cy="530352"/>
          </a:xfrm>
          <a:prstGeom prst="roundRect">
            <a:avLst/>
          </a:prstGeom>
          <a:solidFill>
            <a:srgbClr val="F2F7FA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95160" y="3145536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647382"/>
                </a:solidFill>
                <a:latin typeface="Aptos"/>
              </a:defRPr>
            </a:pPr>
            <a:r>
              <a:t>Median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3118104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1600" b="1">
                <a:solidFill>
                  <a:srgbClr val="162B4D"/>
                </a:solidFill>
                <a:latin typeface="Aptos"/>
              </a:defRPr>
            </a:pPr>
            <a:r>
              <a:t>₹13,499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2280" y="3758183"/>
            <a:ext cx="4114800" cy="530352"/>
          </a:xfrm>
          <a:prstGeom prst="roundRect">
            <a:avLst/>
          </a:prstGeom>
          <a:solidFill>
            <a:srgbClr val="F2F7FA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95160" y="385876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647382"/>
                </a:solidFill>
                <a:latin typeface="Aptos"/>
              </a:defRPr>
            </a:pPr>
            <a:r>
              <a:t>Mean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3831335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1600" b="1">
                <a:solidFill>
                  <a:srgbClr val="162B4D"/>
                </a:solidFill>
                <a:latin typeface="Aptos"/>
              </a:defRPr>
            </a:pPr>
            <a:r>
              <a:t>₹16,228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12280" y="4471416"/>
            <a:ext cx="4114800" cy="530352"/>
          </a:xfrm>
          <a:prstGeom prst="roundRect">
            <a:avLst/>
          </a:prstGeom>
          <a:solidFill>
            <a:srgbClr val="F2F7FA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95160" y="457200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647382"/>
                </a:solidFill>
                <a:latin typeface="Aptos"/>
              </a:defRPr>
            </a:pPr>
            <a:r>
              <a:t>Maximum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4544568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1600" b="1">
                <a:solidFill>
                  <a:srgbClr val="162B4D"/>
                </a:solidFill>
                <a:latin typeface="Aptos"/>
              </a:defRPr>
            </a:pPr>
            <a:r>
              <a:t>₹80,999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162B4D"/>
                </a:solidFill>
                <a:latin typeface="Aptos"/>
              </a:defRPr>
            </a:pPr>
            <a:r>
              <a:t>EDA: Univariate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647382"/>
                </a:solidFill>
                <a:latin typeface="Aptos"/>
              </a:defRPr>
            </a:pPr>
            <a:r>
              <a:rPr dirty="0"/>
              <a:t>Study the distribution of one variable at a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207008"/>
            <a:ext cx="1097280" cy="54864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0789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647382"/>
                </a:solidFill>
                <a:latin typeface="Aptos"/>
              </a:defRPr>
            </a:pPr>
            <a:r>
              <a:t>MOBILE PHONE PRICE PREDICTION | PYTHON +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47382"/>
                </a:solidFill>
                <a:latin typeface="Aptos"/>
              </a:defRPr>
            </a:pPr>
            <a:r>
              <a:t>7</a:t>
            </a:r>
          </a:p>
        </p:txBody>
      </p:sp>
      <p:pic>
        <p:nvPicPr>
          <p:cNvPr id="8" name="Picture 7" descr="pric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5486400" cy="3566160"/>
          </a:xfrm>
          <a:prstGeom prst="rect">
            <a:avLst/>
          </a:prstGeom>
        </p:spPr>
      </p:pic>
      <p:pic>
        <p:nvPicPr>
          <p:cNvPr id="9" name="Picture 8" descr="ram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17320"/>
            <a:ext cx="5303520" cy="3566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5166360"/>
            <a:ext cx="5120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283340"/>
                </a:solidFill>
                <a:latin typeface="Aptos"/>
              </a:defRPr>
            </a:pPr>
            <a:r>
              <a:t>Price range: ₹920–₹80,999; median price: ₹13,499.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5166360"/>
            <a:ext cx="4754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283340"/>
                </a:solidFill>
                <a:latin typeface="Aptos"/>
              </a:defRPr>
            </a:pPr>
            <a:r>
              <a:t>RAM configurations in the dataset: 2, 3, 4, 6 and 8 GB.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162B4D"/>
                </a:solidFill>
                <a:latin typeface="Aptos"/>
              </a:defRPr>
            </a:pPr>
            <a:r>
              <a:t>EDA: Storage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647382"/>
                </a:solidFill>
                <a:latin typeface="Aptos"/>
              </a:defRPr>
            </a:pPr>
            <a:r>
              <a:rPr dirty="0"/>
              <a:t>Frequency of memory/storage configurations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207008"/>
            <a:ext cx="1097280" cy="54864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0789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647382"/>
                </a:solidFill>
                <a:latin typeface="Aptos"/>
              </a:defRPr>
            </a:pPr>
            <a:r>
              <a:t>MOBILE PHONE PRICE PREDICTION | PYTHON +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47382"/>
                </a:solidFill>
                <a:latin typeface="Aptos"/>
              </a:defRPr>
            </a:pPr>
            <a:r>
              <a:t>8</a:t>
            </a:r>
          </a:p>
        </p:txBody>
      </p:sp>
      <p:pic>
        <p:nvPicPr>
          <p:cNvPr id="8" name="Picture 7" descr="memor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5852160" cy="3840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0" y="1737360"/>
            <a:ext cx="402336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900" b="0">
                <a:solidFill>
                  <a:srgbClr val="283340"/>
                </a:solidFill>
                <a:latin typeface="Aptos"/>
              </a:defRPr>
            </a:pPr>
            <a:r>
              <a:t>Storage counts</a:t>
            </a:r>
          </a:p>
          <a:p>
            <a:pPr algn="l">
              <a:spcAft>
                <a:spcPts val="600"/>
              </a:spcAft>
              <a:defRPr sz="1900" b="0">
                <a:solidFill>
                  <a:srgbClr val="283340"/>
                </a:solidFill>
                <a:latin typeface="Aptos"/>
              </a:defRPr>
            </a:pPr>
            <a:endParaRPr/>
          </a:p>
          <a:p>
            <a:pPr algn="l">
              <a:spcAft>
                <a:spcPts val="600"/>
              </a:spcAft>
              <a:defRPr sz="1900" b="0">
                <a:solidFill>
                  <a:srgbClr val="283340"/>
                </a:solidFill>
                <a:latin typeface="Aptos"/>
              </a:defRPr>
            </a:pPr>
            <a:r>
              <a:t>• 16 GB: 6 records</a:t>
            </a:r>
          </a:p>
          <a:p>
            <a:pPr algn="l">
              <a:spcAft>
                <a:spcPts val="600"/>
              </a:spcAft>
              <a:defRPr sz="1900" b="0">
                <a:solidFill>
                  <a:srgbClr val="283340"/>
                </a:solidFill>
                <a:latin typeface="Aptos"/>
              </a:defRPr>
            </a:pPr>
            <a:r>
              <a:t>• 32 GB: 52 records</a:t>
            </a:r>
          </a:p>
          <a:p>
            <a:pPr algn="l">
              <a:spcAft>
                <a:spcPts val="600"/>
              </a:spcAft>
              <a:defRPr sz="1900" b="0">
                <a:solidFill>
                  <a:srgbClr val="283340"/>
                </a:solidFill>
                <a:latin typeface="Aptos"/>
              </a:defRPr>
            </a:pPr>
            <a:r>
              <a:t>• 64 GB: 169 records</a:t>
            </a:r>
          </a:p>
          <a:p>
            <a:pPr algn="l">
              <a:spcAft>
                <a:spcPts val="600"/>
              </a:spcAft>
              <a:defRPr sz="1900" b="0">
                <a:solidFill>
                  <a:srgbClr val="283340"/>
                </a:solidFill>
                <a:latin typeface="Aptos"/>
              </a:defRPr>
            </a:pPr>
            <a:r>
              <a:t>• 128 GB: 259 records</a:t>
            </a:r>
          </a:p>
          <a:p>
            <a:pPr algn="l">
              <a:spcAft>
                <a:spcPts val="600"/>
              </a:spcAft>
              <a:defRPr sz="1900" b="0">
                <a:solidFill>
                  <a:srgbClr val="283340"/>
                </a:solidFill>
                <a:latin typeface="Aptos"/>
              </a:defRPr>
            </a:pPr>
            <a:r>
              <a:t>• 256 GB: 55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53212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647382"/>
                </a:solidFill>
                <a:latin typeface="Aptos"/>
              </a:defRPr>
            </a:pPr>
            <a:r>
              <a:t>Univariate EDA helps identify common configurations and possible skew or unusual values.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162B4D"/>
                </a:solidFill>
                <a:latin typeface="Aptos"/>
              </a:defRPr>
            </a:pPr>
            <a:r>
              <a:t>EDA: Multivariate Correlation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647382"/>
                </a:solidFill>
                <a:latin typeface="Aptos"/>
              </a:defRPr>
            </a:pPr>
            <a:r>
              <a:t>Explore how numeric variables move together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207008"/>
            <a:ext cx="1097280" cy="54864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0789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647382"/>
                </a:solidFill>
                <a:latin typeface="Aptos"/>
              </a:defRPr>
            </a:pPr>
            <a:r>
              <a:t>MOBILE PHONE PRICE PREDICTION | PYTHON +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47382"/>
                </a:solidFill>
                <a:latin typeface="Aptos"/>
              </a:defRPr>
            </a:pPr>
            <a:r>
              <a:t>9</a:t>
            </a:r>
          </a:p>
        </p:txBody>
      </p:sp>
      <p:pic>
        <p:nvPicPr>
          <p:cNvPr id="8" name="Picture 7" descr="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583680" cy="4389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0" y="1645920"/>
            <a:ext cx="402336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700" b="0">
                <a:solidFill>
                  <a:srgbClr val="283340"/>
                </a:solidFill>
                <a:latin typeface="Aptos"/>
              </a:defRPr>
            </a:pPr>
            <a:r>
              <a:t>Highest positive correlations with Prize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283340"/>
                </a:solidFill>
                <a:latin typeface="Aptos"/>
              </a:defRPr>
            </a:pPr>
            <a:endParaRPr/>
          </a:p>
          <a:p>
            <a:pPr algn="l">
              <a:spcAft>
                <a:spcPts val="600"/>
              </a:spcAft>
              <a:defRPr sz="1700" b="0">
                <a:solidFill>
                  <a:srgbClr val="283340"/>
                </a:solidFill>
                <a:latin typeface="Aptos"/>
              </a:defRPr>
            </a:pPr>
            <a:r>
              <a:t>• Memory: 0.57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283340"/>
                </a:solidFill>
                <a:latin typeface="Aptos"/>
              </a:defRPr>
            </a:pPr>
            <a:r>
              <a:t>• Front Camera: 0.53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283340"/>
                </a:solidFill>
                <a:latin typeface="Aptos"/>
              </a:defRPr>
            </a:pPr>
            <a:r>
              <a:t>• RAM: 0.53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283340"/>
                </a:solidFill>
                <a:latin typeface="Aptos"/>
              </a:defRPr>
            </a:pPr>
            <a:r>
              <a:t>• Rear Camera: 0.41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283340"/>
                </a:solidFill>
                <a:latin typeface="Aptos"/>
              </a:defRPr>
            </a:pPr>
            <a:r>
              <a:t>• Mobile Height: 0.18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5029200"/>
            <a:ext cx="4023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647382"/>
                </a:solidFill>
                <a:latin typeface="Aptos"/>
              </a:defRPr>
            </a:pPr>
            <a:r>
              <a:t>Correlation indicates association, not causation.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162B4D"/>
                </a:solidFill>
                <a:latin typeface="Aptos"/>
              </a:defRPr>
            </a:pPr>
            <a:r>
              <a:t>EDA: RAM, Storage &amp; Price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647382"/>
                </a:solidFill>
                <a:latin typeface="Aptos"/>
              </a:defRPr>
            </a:pPr>
            <a:r>
              <a:t>Three variables compared in one visualization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207008"/>
            <a:ext cx="1097280" cy="54864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0789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647382"/>
                </a:solidFill>
                <a:latin typeface="Aptos"/>
              </a:defRPr>
            </a:pPr>
            <a:r>
              <a:t>MOBILE PHONE PRICE PREDICTION | PYTHON +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47382"/>
                </a:solidFill>
                <a:latin typeface="Aptos"/>
              </a:defRPr>
            </a:pPr>
            <a:r>
              <a:t>10</a:t>
            </a:r>
          </a:p>
        </p:txBody>
      </p:sp>
      <p:pic>
        <p:nvPicPr>
          <p:cNvPr id="8" name="Picture 7" descr="ram_memory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71600"/>
            <a:ext cx="6492240" cy="4389120"/>
          </a:xfrm>
          <a:prstGeom prst="rect">
            <a:avLst/>
          </a:prstGeom>
        </p:spPr>
      </p:pic>
      <p:pic>
        <p:nvPicPr>
          <p:cNvPr id="9" name="Picture 8" descr="price_by_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371600"/>
            <a:ext cx="4389120" cy="4389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58064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647382"/>
                </a:solidFill>
                <a:latin typeface="Aptos"/>
              </a:defRPr>
            </a:pPr>
            <a:r>
              <a:t>Use hue/grouping and boxplots to compare price patterns across RAM and storage configurations.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162B4D"/>
                </a:solidFill>
                <a:latin typeface="Aptos"/>
              </a:defRPr>
            </a:pPr>
            <a:r>
              <a:t>EDA: Processor and Price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647382"/>
                </a:solidFill>
                <a:latin typeface="Aptos"/>
              </a:defRPr>
            </a:pPr>
            <a:r>
              <a:t>Compare median price across frequently occurring processor types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207008"/>
            <a:ext cx="1097280" cy="54864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0789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647382"/>
                </a:solidFill>
                <a:latin typeface="Aptos"/>
              </a:defRPr>
            </a:pPr>
            <a:r>
              <a:t>MOBILE PHONE PRICE PREDICTION | PYTHON +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47382"/>
                </a:solidFill>
                <a:latin typeface="Aptos"/>
              </a:defRPr>
            </a:pPr>
            <a:r>
              <a:t>11</a:t>
            </a:r>
          </a:p>
        </p:txBody>
      </p:sp>
      <p:pic>
        <p:nvPicPr>
          <p:cNvPr id="8" name="Picture 7" descr="processor_median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71600"/>
            <a:ext cx="6766560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89520" y="1737360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83340"/>
                </a:solidFill>
                <a:latin typeface="Aptos"/>
              </a:defRPr>
            </a:pPr>
            <a:r>
              <a:t>• Processor_ is categorical and should be encoded before modelling.</a:t>
            </a:r>
          </a:p>
          <a:p>
            <a:pPr>
              <a:spcAft>
                <a:spcPts val="1200"/>
              </a:spcAft>
              <a:defRPr sz="1500">
                <a:solidFill>
                  <a:srgbClr val="283340"/>
                </a:solidFill>
                <a:latin typeface="Aptos"/>
              </a:defRPr>
            </a:pPr>
            <a:r>
              <a:t>• The chart uses the eight most frequent processor types.</a:t>
            </a:r>
          </a:p>
          <a:p>
            <a:pPr>
              <a:spcAft>
                <a:spcPts val="1200"/>
              </a:spcAft>
              <a:defRPr sz="1500">
                <a:solidFill>
                  <a:srgbClr val="283340"/>
                </a:solidFill>
                <a:latin typeface="Aptos"/>
              </a:defRPr>
            </a:pPr>
            <a:r>
              <a:t>• Median price offers a robust comparison when distributions contain outliers.</a:t>
            </a:r>
          </a:p>
          <a:p>
            <a:pPr>
              <a:spcAft>
                <a:spcPts val="1200"/>
              </a:spcAft>
              <a:defRPr sz="1500">
                <a:solidFill>
                  <a:srgbClr val="283340"/>
                </a:solidFill>
                <a:latin typeface="Aptos"/>
              </a:defRPr>
            </a:pPr>
            <a:r>
              <a:t>• Processor labels can have many unique categories, so model validation is important.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162B4D"/>
                </a:solidFill>
                <a:latin typeface="Aptos"/>
              </a:defRPr>
            </a:pPr>
            <a:r>
              <a:t>Feature Extraction /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0789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647382"/>
                </a:solidFill>
                <a:latin typeface="Aptos"/>
              </a:defRPr>
            </a:pPr>
            <a:r>
              <a:t>MOBILE PHONE PRICE PREDICTION | PYTHON +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47382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566928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283340"/>
                </a:solidFill>
                <a:latin typeface="Aptos"/>
              </a:defRPr>
            </a:pPr>
            <a:r>
              <a:t># Target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283340"/>
                </a:solidFill>
                <a:latin typeface="Aptos"/>
              </a:defRPr>
            </a:pPr>
            <a:r>
              <a:t>y = df['Prize']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283340"/>
                </a:solidFill>
                <a:latin typeface="Aptos"/>
              </a:defRPr>
            </a:pPr>
            <a:endParaRPr/>
          </a:p>
          <a:p>
            <a:pPr algn="l">
              <a:spcAft>
                <a:spcPts val="600"/>
              </a:spcAft>
              <a:defRPr sz="1500" b="0">
                <a:solidFill>
                  <a:srgbClr val="283340"/>
                </a:solidFill>
                <a:latin typeface="Aptos"/>
              </a:defRPr>
            </a:pPr>
            <a:r>
              <a:t># Example engineered features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283340"/>
                </a:solidFill>
                <a:latin typeface="Aptos"/>
              </a:defRPr>
            </a:pPr>
            <a:r>
              <a:t>df['Total_Camera_MP'] = (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283340"/>
                </a:solidFill>
                <a:latin typeface="Aptos"/>
              </a:defRPr>
            </a:pPr>
            <a:r>
              <a:t>    df['Rear Camera'].fillna(0) +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283340"/>
                </a:solidFill>
                <a:latin typeface="Aptos"/>
              </a:defRPr>
            </a:pPr>
            <a:r>
              <a:t>    df['Front Camera'].fillna(0)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283340"/>
                </a:solidFill>
                <a:latin typeface="Aptos"/>
              </a:defRPr>
            </a:pPr>
            <a:r>
              <a:t>)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283340"/>
                </a:solidFill>
                <a:latin typeface="Aptos"/>
              </a:defRPr>
            </a:pPr>
            <a:endParaRPr/>
          </a:p>
          <a:p>
            <a:pPr algn="l">
              <a:spcAft>
                <a:spcPts val="600"/>
              </a:spcAft>
              <a:defRPr sz="1500" b="0">
                <a:solidFill>
                  <a:srgbClr val="283340"/>
                </a:solidFill>
                <a:latin typeface="Aptos"/>
              </a:defRPr>
            </a:pPr>
            <a:r>
              <a:t>df['Storage_RAM_Ratio'] = (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283340"/>
                </a:solidFill>
                <a:latin typeface="Aptos"/>
              </a:defRPr>
            </a:pPr>
            <a:r>
              <a:t>    df['Memory'] / df['RAM'].replace(0, np.nan)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283340"/>
                </a:solidFill>
                <a:latin typeface="Aptos"/>
              </a:defRPr>
            </a:pPr>
            <a:r>
              <a:t>)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283340"/>
                </a:solidFill>
                <a:latin typeface="Aptos"/>
              </a:defRPr>
            </a:pPr>
            <a:endParaRPr/>
          </a:p>
          <a:p>
            <a:pPr algn="l">
              <a:spcAft>
                <a:spcPts val="600"/>
              </a:spcAft>
              <a:defRPr sz="1500" b="0">
                <a:solidFill>
                  <a:srgbClr val="283340"/>
                </a:solidFill>
                <a:latin typeface="Aptos"/>
              </a:defRPr>
            </a:pPr>
            <a:r>
              <a:t>df['Battery_RAM_Ratio'] = (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283340"/>
                </a:solidFill>
                <a:latin typeface="Aptos"/>
              </a:defRPr>
            </a:pPr>
            <a:r>
              <a:t>    df['Battery_'] / df['RAM'].replace(0, np.nan)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283340"/>
                </a:solidFill>
                <a:latin typeface="Aptos"/>
              </a:defRPr>
            </a:pPr>
            <a: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691640"/>
            <a:ext cx="4480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83340"/>
                </a:solidFill>
                <a:latin typeface="Aptos"/>
              </a:defRPr>
            </a:pPr>
            <a:r>
              <a:t>• Total_Camera_MP combines rear and front camera megapixel values.</a:t>
            </a:r>
          </a:p>
          <a:p>
            <a:pPr>
              <a:spcAft>
                <a:spcPts val="1200"/>
              </a:spcAft>
              <a:defRPr sz="1500">
                <a:solidFill>
                  <a:srgbClr val="283340"/>
                </a:solidFill>
                <a:latin typeface="Aptos"/>
              </a:defRPr>
            </a:pPr>
            <a:r>
              <a:t>• Storage_RAM_Ratio describes storage relative to RAM.</a:t>
            </a:r>
          </a:p>
          <a:p>
            <a:pPr>
              <a:spcAft>
                <a:spcPts val="1200"/>
              </a:spcAft>
              <a:defRPr sz="1500">
                <a:solidFill>
                  <a:srgbClr val="283340"/>
                </a:solidFill>
                <a:latin typeface="Aptos"/>
              </a:defRPr>
            </a:pPr>
            <a:r>
              <a:t>• Battery_RAM_Ratio describes battery capacity relative to RAM.</a:t>
            </a:r>
          </a:p>
          <a:p>
            <a:pPr>
              <a:spcAft>
                <a:spcPts val="1200"/>
              </a:spcAft>
              <a:defRPr sz="1500">
                <a:solidFill>
                  <a:srgbClr val="283340"/>
                </a:solidFill>
                <a:latin typeface="Aptos"/>
              </a:defRPr>
            </a:pPr>
            <a:r>
              <a:t>• Derived features are hypotheses: validate them with model performance.</a:t>
            </a:r>
          </a:p>
          <a:p>
            <a:pPr>
              <a:spcAft>
                <a:spcPts val="1200"/>
              </a:spcAft>
              <a:defRPr sz="1500">
                <a:solidFill>
                  <a:srgbClr val="283340"/>
                </a:solidFill>
                <a:latin typeface="Aptos"/>
              </a:defRPr>
            </a:pPr>
            <a:r>
              <a:t>• Feature extraction here means feature engineering; dimensionality reduction is a separate technique.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162B4D"/>
                </a:solidFill>
                <a:latin typeface="Aptos"/>
              </a:defRPr>
            </a:pPr>
            <a:r>
              <a:t>Feature Selection with Random Forest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647382"/>
                </a:solidFill>
                <a:latin typeface="Aptos"/>
              </a:defRPr>
            </a:pPr>
            <a:r>
              <a:t>Rank encoded features by their contribution to predictive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207008"/>
            <a:ext cx="1097280" cy="54864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0789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647382"/>
                </a:solidFill>
                <a:latin typeface="Aptos"/>
              </a:defRPr>
            </a:pPr>
            <a:r>
              <a:t>MOBILE PHONE PRICE PREDICTION | PYTHON +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47382"/>
                </a:solidFill>
                <a:latin typeface="Aptos"/>
              </a:defRPr>
            </a:pPr>
            <a:r>
              <a:t>13</a:t>
            </a:r>
          </a:p>
        </p:txBody>
      </p:sp>
      <p:pic>
        <p:nvPicPr>
          <p:cNvPr id="8" name="Picture 7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6583680" cy="4526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0" y="1645920"/>
            <a:ext cx="4023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83340"/>
                </a:solidFill>
                <a:latin typeface="Aptos"/>
              </a:defRPr>
            </a:pPr>
            <a:r>
              <a:t>• Split the dataset into training (80%) and testing (20%) sets.</a:t>
            </a:r>
          </a:p>
          <a:p>
            <a:pPr>
              <a:spcAft>
                <a:spcPts val="1200"/>
              </a:spcAft>
              <a:defRPr sz="1500">
                <a:solidFill>
                  <a:srgbClr val="283340"/>
                </a:solidFill>
                <a:latin typeface="Aptos"/>
              </a:defRPr>
            </a:pPr>
            <a:r>
              <a:t>• Impute missing numeric values and one-hot encode categorical columns.</a:t>
            </a:r>
          </a:p>
          <a:p>
            <a:pPr>
              <a:spcAft>
                <a:spcPts val="1200"/>
              </a:spcAft>
              <a:defRPr sz="1500">
                <a:solidFill>
                  <a:srgbClr val="283340"/>
                </a:solidFill>
                <a:latin typeface="Aptos"/>
              </a:defRPr>
            </a:pPr>
            <a:r>
              <a:t>• Fit a RandomForestRegressor on training data.</a:t>
            </a:r>
          </a:p>
          <a:p>
            <a:pPr>
              <a:spcAft>
                <a:spcPts val="1200"/>
              </a:spcAft>
              <a:defRPr sz="1500">
                <a:solidFill>
                  <a:srgbClr val="283340"/>
                </a:solidFill>
                <a:latin typeface="Aptos"/>
              </a:defRPr>
            </a:pPr>
            <a:r>
              <a:t>• Use feature_importances_ to rank encoded features.</a:t>
            </a:r>
          </a:p>
          <a:p>
            <a:pPr>
              <a:spcAft>
                <a:spcPts val="1200"/>
              </a:spcAft>
              <a:defRPr sz="1500">
                <a:solidFill>
                  <a:srgbClr val="283340"/>
                </a:solidFill>
                <a:latin typeface="Aptos"/>
              </a:defRPr>
            </a:pPr>
            <a:r>
              <a:t>• Select features above the median importance threshold with SelectFromModel.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162B4D"/>
                </a:solidFill>
                <a:latin typeface="Aptos"/>
              </a:defRPr>
            </a:pPr>
            <a:r>
              <a:t>Selected-Feature Model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0789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647382"/>
                </a:solidFill>
                <a:latin typeface="Aptos"/>
              </a:defRPr>
            </a:pPr>
            <a:r>
              <a:t>MOBILE PHONE PRICE PREDICTION | PYTHON +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47382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300" b="1">
                <a:solidFill>
                  <a:srgbClr val="162B4D"/>
                </a:solidFill>
                <a:latin typeface="Aptos"/>
              </a:defRPr>
            </a:pPr>
            <a:r>
              <a:t>Random Forest regression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4480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200" b="1">
                <a:solidFill>
                  <a:srgbClr val="009196"/>
                </a:solidFill>
                <a:latin typeface="Aptos"/>
              </a:defRPr>
            </a:pPr>
            <a:r>
              <a:t>R² score: 0.845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63240"/>
            <a:ext cx="4480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200" b="1">
                <a:solidFill>
                  <a:srgbClr val="009196"/>
                </a:solidFill>
                <a:latin typeface="Aptos"/>
              </a:defRPr>
            </a:pPr>
            <a:r>
              <a:t>Mean Absolute Error: ₹1,767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1645920"/>
            <a:ext cx="5303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83340"/>
                </a:solidFill>
                <a:latin typeface="Aptos"/>
              </a:defRPr>
            </a:pPr>
            <a:r>
              <a:t>• R² summarizes how well the model explains price variation on the test split.</a:t>
            </a:r>
          </a:p>
          <a:p>
            <a:pPr>
              <a:spcAft>
                <a:spcPts val="1200"/>
              </a:spcAft>
              <a:defRPr sz="1600">
                <a:solidFill>
                  <a:srgbClr val="283340"/>
                </a:solidFill>
                <a:latin typeface="Aptos"/>
              </a:defRPr>
            </a:pPr>
            <a:r>
              <a:t>• MAE is the average absolute difference between predicted and actual prices.</a:t>
            </a:r>
          </a:p>
          <a:p>
            <a:pPr>
              <a:spcAft>
                <a:spcPts val="1200"/>
              </a:spcAft>
              <a:defRPr sz="1600">
                <a:solidFill>
                  <a:srgbClr val="283340"/>
                </a:solidFill>
                <a:latin typeface="Aptos"/>
              </a:defRPr>
            </a:pPr>
            <a:r>
              <a:t>• These results are a baseline, not a guarantee of future performance.</a:t>
            </a:r>
          </a:p>
          <a:p>
            <a:pPr>
              <a:spcAft>
                <a:spcPts val="1200"/>
              </a:spcAft>
              <a:defRPr sz="1600">
                <a:solidFill>
                  <a:srgbClr val="283340"/>
                </a:solidFill>
                <a:latin typeface="Aptos"/>
              </a:defRPr>
            </a:pPr>
            <a:r>
              <a:t>• Random Forest importance can be biased toward some feature types; consider permutation importance and cross-validation for stronger validation.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16636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283340"/>
                </a:solidFill>
                <a:latin typeface="Aptos"/>
              </a:defRPr>
            </a:pPr>
            <a:r>
              <a:t>Selected 272 of 543 encoded features using a median importance threshold.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162B4D"/>
                </a:solidFill>
                <a:latin typeface="Aptos"/>
              </a:defRPr>
            </a:pPr>
            <a:r>
              <a:t>Conclusion &amp;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0789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647382"/>
                </a:solidFill>
                <a:latin typeface="Aptos"/>
              </a:defRPr>
            </a:pPr>
            <a:r>
              <a:t>MOBILE PHONE PRICE PREDICTION | PYTHON +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47382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3340"/>
                </a:solidFill>
                <a:latin typeface="Aptos"/>
              </a:defRPr>
            </a:pPr>
            <a:r>
              <a:t>• The dataset contains 541 mobile phone records and a mix of numerical and categorical fields.</a:t>
            </a:r>
          </a:p>
          <a:p>
            <a:pPr>
              <a:spcAft>
                <a:spcPts val="1200"/>
              </a:spcAft>
              <a:defRPr sz="1700">
                <a:solidFill>
                  <a:srgbClr val="283340"/>
                </a:solidFill>
                <a:latin typeface="Aptos"/>
              </a:defRPr>
            </a:pPr>
            <a:r>
              <a:t>• Preprocessing is required for comma-separated prices and camera specifications stored as text.</a:t>
            </a:r>
          </a:p>
          <a:p>
            <a:pPr>
              <a:spcAft>
                <a:spcPts val="1200"/>
              </a:spcAft>
              <a:defRPr sz="1700">
                <a:solidFill>
                  <a:srgbClr val="283340"/>
                </a:solidFill>
                <a:latin typeface="Aptos"/>
              </a:defRPr>
            </a:pPr>
            <a:r>
              <a:t>• Univariate EDA summarizes distributions; multivariate EDA reveals relationships among features.</a:t>
            </a:r>
          </a:p>
          <a:p>
            <a:pPr>
              <a:spcAft>
                <a:spcPts val="1200"/>
              </a:spcAft>
              <a:defRPr sz="1700">
                <a:solidFill>
                  <a:srgbClr val="283340"/>
                </a:solidFill>
                <a:latin typeface="Aptos"/>
              </a:defRPr>
            </a:pPr>
            <a:r>
              <a:t>• Feature engineering creates useful derived variables, while feature selection reduces the encoded input space.</a:t>
            </a:r>
          </a:p>
          <a:p>
            <a:pPr>
              <a:spcAft>
                <a:spcPts val="1200"/>
              </a:spcAft>
              <a:defRPr sz="1700">
                <a:solidFill>
                  <a:srgbClr val="283340"/>
                </a:solidFill>
                <a:latin typeface="Aptos"/>
              </a:defRPr>
            </a:pPr>
            <a:r>
              <a:t>• Random Forest provides a baseline model for price prediction.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1737360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162B4D"/>
                </a:solidFill>
                <a:latin typeface="Aptos"/>
              </a:defRPr>
            </a:pPr>
            <a:r>
              <a:t>Recommended next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2331720"/>
            <a:ext cx="3657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83340"/>
                </a:solidFill>
                <a:latin typeface="Aptos"/>
              </a:defRPr>
            </a:pPr>
            <a:r>
              <a:t>• Tune model hyperparameters.</a:t>
            </a:r>
          </a:p>
          <a:p>
            <a:pPr>
              <a:spcAft>
                <a:spcPts val="1200"/>
              </a:spcAft>
              <a:defRPr sz="1500">
                <a:solidFill>
                  <a:srgbClr val="283340"/>
                </a:solidFill>
                <a:latin typeface="Aptos"/>
              </a:defRPr>
            </a:pPr>
            <a:r>
              <a:t>• Use cross-validation.</a:t>
            </a:r>
          </a:p>
          <a:p>
            <a:pPr>
              <a:spcAft>
                <a:spcPts val="1200"/>
              </a:spcAft>
              <a:defRPr sz="1500">
                <a:solidFill>
                  <a:srgbClr val="283340"/>
                </a:solidFill>
                <a:latin typeface="Aptos"/>
              </a:defRPr>
            </a:pPr>
            <a:r>
              <a:t>• Compare Random Forest with Gradient Boosting.</a:t>
            </a:r>
          </a:p>
          <a:p>
            <a:pPr>
              <a:spcAft>
                <a:spcPts val="1200"/>
              </a:spcAft>
              <a:defRPr sz="1500">
                <a:solidFill>
                  <a:srgbClr val="283340"/>
                </a:solidFill>
                <a:latin typeface="Aptos"/>
              </a:defRPr>
            </a:pPr>
            <a:r>
              <a:t>• Check outliers and unusual phone-height values.</a:t>
            </a:r>
          </a:p>
          <a:p>
            <a:pPr>
              <a:spcAft>
                <a:spcPts val="1200"/>
              </a:spcAft>
              <a:defRPr sz="1500">
                <a:solidFill>
                  <a:srgbClr val="283340"/>
                </a:solidFill>
                <a:latin typeface="Aptos"/>
              </a:defRPr>
            </a:pPr>
            <a:r>
              <a:t>• Document assumptions and limitations.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80644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009196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1454</Words>
  <Application>Microsoft Office PowerPoint</Application>
  <PresentationFormat>Widescreen</PresentationFormat>
  <Paragraphs>199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Lokesh singh</cp:lastModifiedBy>
  <cp:revision>3</cp:revision>
  <dcterms:created xsi:type="dcterms:W3CDTF">2013-01-27T09:14:16Z</dcterms:created>
  <dcterms:modified xsi:type="dcterms:W3CDTF">2026-10-25T09:52:30Z</dcterms:modified>
  <cp:category/>
</cp:coreProperties>
</file>